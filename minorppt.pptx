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14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60" r:id="rId6"/>
    <p:sldId id="261" r:id="rId7"/>
    <p:sldId id="262" r:id="rId8"/>
    <p:sldId id="263" r:id="rId9"/>
    <p:sldId id="264" r:id="rId10"/>
    <p:sldId id="292" r:id="rId11"/>
    <p:sldId id="295" r:id="rId12"/>
    <p:sldId id="298" r:id="rId13"/>
    <p:sldId id="271" r:id="rId14"/>
    <p:sldId id="299" r:id="rId15"/>
    <p:sldId id="274" r:id="rId16"/>
    <p:sldId id="300" r:id="rId17"/>
    <p:sldId id="284" r:id="rId18"/>
    <p:sldId id="301" r:id="rId19"/>
    <p:sldId id="303" r:id="rId20"/>
    <p:sldId id="302" r:id="rId21"/>
    <p:sldId id="286" r:id="rId22"/>
  </p:sldIdLst>
  <p:sldSz cx="18288000" cy="10287000"/>
  <p:notesSz cx="6858000" cy="9144000"/>
  <p:embeddedFontLst>
    <p:embeddedFont>
      <p:font typeface="Heebo" panose="00000500000000000000"/>
      <p:regular r:id="rId26"/>
    </p:embeddedFont>
    <p:embeddedFont>
      <p:font typeface="Heebo Bold" panose="00000800000000000000"/>
      <p:bold r:id="rId27"/>
    </p:embeddedFont>
    <p:embeddedFont>
      <p:font typeface="Heebo Bold" panose="00000800000000000000" charset="0"/>
      <p:bold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1" Type="http://schemas.openxmlformats.org/officeDocument/2006/relationships/font" Target="fonts/font6.fntdata"/><Relationship Id="rId30" Type="http://schemas.openxmlformats.org/officeDocument/2006/relationships/font" Target="fonts/font5.fntdata"/><Relationship Id="rId3" Type="http://schemas.openxmlformats.org/officeDocument/2006/relationships/slide" Target="slides/slide1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  <a:endParaRPr lang="en-US"/>
          </a:p>
          <a:p>
            <a:r>
              <a:rPr lang="en-US"/>
              <a:t>NEXT SLIDE </a:t>
            </a:r>
            <a:endParaRPr lang="en-US"/>
          </a:p>
          <a:p>
            <a:r>
              <a:rPr lang="en-US"/>
              <a:t>SK ko</a:t>
            </a:r>
            <a:endParaRPr lang="en-US"/>
          </a:p>
          <a:p/>
          <a:p>
            <a:r>
              <a:rPr lang="en-US"/>
              <a:t>‹#›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  <a:endParaRPr lang="en-US"/>
          </a:p>
          <a:p/>
          <a:p>
            <a:r>
              <a:rPr lang="en-US"/>
              <a:t>Ultra - HC-SR04</a:t>
            </a:r>
            <a:endParaRPr lang="en-US"/>
          </a:p>
          <a:p/>
          <a:p>
            <a:r>
              <a:rPr lang="en-US"/>
              <a:t>SERVO F- SG 90</a:t>
            </a:r>
            <a:endParaRPr lang="en-US"/>
          </a:p>
          <a:p>
            <a:r>
              <a:rPr lang="en-US"/>
              <a:t>Torque- 1.8kg</a:t>
            </a:r>
            <a:endParaRPr lang="en-US"/>
          </a:p>
          <a:p/>
          <a:p>
            <a:r>
              <a:rPr lang="en-US"/>
              <a:t>SERVO B- MG996R</a:t>
            </a:r>
            <a:endParaRPr lang="en-US"/>
          </a:p>
          <a:p>
            <a:r>
              <a:rPr lang="en-US"/>
              <a:t>Torque- 9.4kg</a:t>
            </a:r>
            <a:endParaRPr lang="en-US"/>
          </a:p>
          <a:p/>
          <a:p>
            <a:r>
              <a:rPr lang="en-US"/>
              <a:t>‹#›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6078200" y="9486900"/>
            <a:ext cx="2133600" cy="677545"/>
          </a:xfr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1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697200" y="9486900"/>
            <a:ext cx="2133600" cy="669925"/>
          </a:xfrm>
        </p:spPr>
        <p:txBody>
          <a:bodyPr/>
          <a:lstStyle>
            <a:lvl1pPr>
              <a:defRPr sz="1800" b="0"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r>
              <a:rPr lang="en-US"/>
              <a:t>1</a:t>
            </a:r>
            <a:endParaRPr lang="en-US"/>
          </a:p>
        </p:txBody>
      </p:sp>
      <p:sp>
        <p:nvSpPr>
          <p:cNvPr id="5" name="Text Box 4"/>
          <p:cNvSpPr txBox="1"/>
          <p:nvPr userDrawn="1"/>
        </p:nvSpPr>
        <p:spPr>
          <a:xfrm>
            <a:off x="17145000" y="991870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044000" y="591608"/>
            <a:ext cx="16200000" cy="1188000"/>
          </a:xfrm>
        </p:spPr>
        <p:txBody>
          <a:bodyPr lIns="0" tIns="0" rIns="0" bIns="0"/>
          <a:lstStyle>
            <a:lvl1pPr algn="ctr" fontAlgn="base">
              <a:defRPr sz="4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5621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126480"/>
            <a:ext cx="2133600" cy="6775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</a:t>
            </a:r>
            <a:endParaRPr lang="en-US"/>
          </a:p>
        </p:txBody>
      </p:sp>
      <p:grpSp>
        <p:nvGrpSpPr>
          <p:cNvPr id="7" name="Group 4"/>
          <p:cNvGrpSpPr/>
          <p:nvPr userDrawn="1"/>
        </p:nvGrpSpPr>
        <p:grpSpPr>
          <a:xfrm rot="0">
            <a:off x="17068800" y="274955"/>
            <a:ext cx="859790" cy="893445"/>
            <a:chOff x="0" y="0"/>
            <a:chExt cx="1664833" cy="1664833"/>
          </a:xfrm>
        </p:grpSpPr>
        <p:sp>
          <p:nvSpPr>
            <p:cNvPr id="8" name="Freeform 5"/>
            <p:cNvSpPr/>
            <p:nvPr/>
          </p:nvSpPr>
          <p:spPr>
            <a:xfrm>
              <a:off x="0" y="0"/>
              <a:ext cx="1664843" cy="1664843"/>
            </a:xfrm>
            <a:custGeom>
              <a:avLst/>
              <a:gdLst/>
              <a:ahLst/>
              <a:cxnLst/>
              <a:rect l="l" t="t" r="r" b="b"/>
              <a:pathLst>
                <a:path w="1664843" h="1664843">
                  <a:moveTo>
                    <a:pt x="0" y="0"/>
                  </a:moveTo>
                  <a:lnTo>
                    <a:pt x="1664843" y="0"/>
                  </a:lnTo>
                  <a:lnTo>
                    <a:pt x="1664843" y="1664843"/>
                  </a:lnTo>
                  <a:lnTo>
                    <a:pt x="0" y="1664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sp>
        <p:nvSpPr>
          <p:cNvPr id="9" name="Text Box 8"/>
          <p:cNvSpPr txBox="1"/>
          <p:nvPr userDrawn="1"/>
        </p:nvSpPr>
        <p:spPr>
          <a:xfrm>
            <a:off x="11496040" y="6202045"/>
            <a:ext cx="609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jpeg"/><Relationship Id="rId8" Type="http://schemas.openxmlformats.org/officeDocument/2006/relationships/image" Target="../media/image11.jpeg"/><Relationship Id="rId7" Type="http://schemas.openxmlformats.org/officeDocument/2006/relationships/image" Target="../media/image10.jpe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jpeg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2743004" y="2781003"/>
            <a:ext cx="12371700" cy="223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10"/>
              </a:lnSpc>
            </a:pPr>
            <a:r>
              <a:rPr lang="en-US" sz="4000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 CABLE FAULT DETECTION SYSTEM USING TIME DOMAIN REFLECTOMETRY</a:t>
            </a:r>
            <a:endParaRPr lang="en-US" sz="4000" b="1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971685" y="5371787"/>
            <a:ext cx="12371700" cy="77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50"/>
              </a:lnSpc>
            </a:pPr>
            <a:r>
              <a:rPr lang="en-US" sz="3600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PROJECT PROGRESS REPORT ON</a:t>
            </a:r>
            <a:endParaRPr lang="en-US" sz="3600" b="1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594553" y="1104694"/>
            <a:ext cx="10668363" cy="86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6000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Kantipur Engineering College</a:t>
            </a:r>
            <a:endParaRPr lang="en-US" sz="6000" b="1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09806" y="6057753"/>
            <a:ext cx="16828596" cy="678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0"/>
              </a:lnSpc>
            </a:pPr>
            <a:r>
              <a:rPr lang="en-US" sz="3400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Presented By:</a:t>
            </a:r>
            <a:endParaRPr lang="en-US" sz="3400" b="1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6477000" y="6762750"/>
            <a:ext cx="6086475" cy="170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sz="2800" b="1" dirty="0">
                <a:sym typeface="+mn-ea"/>
              </a:rPr>
              <a:t>A</a:t>
            </a:r>
            <a:r>
              <a:rPr lang="en-US" sz="2800" b="1" dirty="0">
                <a:effectLst/>
                <a:sym typeface="+mn-ea"/>
              </a:rPr>
              <a:t>abiskar Subedi             [KAN079BEI001]</a:t>
            </a:r>
            <a:endParaRPr lang="en-US" sz="2800" b="1" dirty="0">
              <a:effectLst/>
            </a:endParaRPr>
          </a:p>
          <a:p>
            <a:pPr algn="l"/>
            <a:r>
              <a:rPr lang="en-US" sz="2800" b="1" dirty="0" err="1">
                <a:effectLst/>
                <a:sym typeface="+mn-ea"/>
              </a:rPr>
              <a:t>Chofung</a:t>
            </a:r>
            <a:r>
              <a:rPr lang="en-US" sz="2800" b="1" dirty="0">
                <a:effectLst/>
                <a:sym typeface="+mn-ea"/>
              </a:rPr>
              <a:t> </a:t>
            </a:r>
            <a:r>
              <a:rPr lang="en-US" sz="2800" b="1" dirty="0" err="1">
                <a:effectLst/>
                <a:sym typeface="+mn-ea"/>
              </a:rPr>
              <a:t>Jabegu</a:t>
            </a:r>
            <a:r>
              <a:rPr lang="en-US" sz="2800" b="1" dirty="0">
                <a:effectLst/>
                <a:sym typeface="+mn-ea"/>
              </a:rPr>
              <a:t> Limbu [KAN079BEI007]</a:t>
            </a:r>
            <a:endParaRPr lang="en-US" sz="2800" b="1" dirty="0">
              <a:effectLst/>
            </a:endParaRPr>
          </a:p>
          <a:p>
            <a:pPr algn="l"/>
            <a:r>
              <a:rPr lang="en-US" sz="2800" b="1" dirty="0">
                <a:effectLst/>
                <a:sym typeface="+mn-ea"/>
              </a:rPr>
              <a:t>Prasun Khatiwada         [KAN079BEI014]</a:t>
            </a:r>
            <a:endParaRPr lang="en-US" sz="2800" b="1" dirty="0">
              <a:effectLst/>
            </a:endParaRPr>
          </a:p>
          <a:p>
            <a:pPr algn="l"/>
            <a:endParaRPr lang="en-US" sz="2800" b="1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US"/>
              <a:t>1</a:t>
            </a:r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6934200" y="8331835"/>
            <a:ext cx="6096000" cy="608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3000" b="1"/>
              <a:t>Jan,2026</a:t>
            </a:r>
            <a:endParaRPr lang="en-US" sz="3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15650" y="1003825"/>
            <a:ext cx="12656700" cy="1292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6000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INTRODUCTION</a:t>
            </a:r>
            <a:endParaRPr lang="en-US" sz="6000" b="1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28576" y="2696472"/>
            <a:ext cx="14128583" cy="685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0" lvl="1" indent="-367030" algn="l">
              <a:lnSpc>
                <a:spcPts val="4860"/>
              </a:lnSpc>
              <a:buFont typeface="Arial" panose="020B0604020202020204"/>
              <a:buChar char="•"/>
            </a:pPr>
            <a:r>
              <a:rPr lang="en-US" altLang="en-US" sz="3200"/>
              <a:t>Coaxial cables provide safe, reliable power and communication.</a:t>
            </a:r>
            <a:endParaRPr lang="en-US" altLang="en-US" sz="3200"/>
          </a:p>
          <a:p>
            <a:pPr marL="734060" lvl="1" indent="-367030" algn="l">
              <a:lnSpc>
                <a:spcPts val="4860"/>
              </a:lnSpc>
              <a:buFont typeface="Arial" panose="020B0604020202020204"/>
              <a:buChar char="•"/>
            </a:pPr>
            <a:endParaRPr lang="en-US" altLang="en-US" sz="3200"/>
          </a:p>
          <a:p>
            <a:pPr marL="734060" lvl="1" indent="-367030" algn="l">
              <a:lnSpc>
                <a:spcPts val="4860"/>
              </a:lnSpc>
              <a:buFont typeface="Arial" panose="020B0604020202020204"/>
              <a:buChar char="•"/>
            </a:pPr>
            <a:r>
              <a:rPr lang="en-US" altLang="en-US" sz="3200"/>
              <a:t>Fault detection is challenging due to their buried, inaccessible nature</a:t>
            </a:r>
            <a:endParaRPr lang="en-US" altLang="en-US" sz="3200"/>
          </a:p>
          <a:p>
            <a:pPr marL="734060" lvl="1" indent="-367030" algn="l">
              <a:lnSpc>
                <a:spcPts val="4860"/>
              </a:lnSpc>
              <a:buFont typeface="Arial" panose="020B0604020202020204"/>
              <a:buChar char="•"/>
            </a:pPr>
            <a:endParaRPr lang="en-US" altLang="en-US" sz="3200"/>
          </a:p>
          <a:p>
            <a:pPr marL="734060" lvl="1" indent="-367030" algn="l">
              <a:lnSpc>
                <a:spcPts val="4860"/>
              </a:lnSpc>
              <a:buFont typeface="Arial" panose="020B0604020202020204"/>
              <a:buChar char="•"/>
            </a:pPr>
            <a:r>
              <a:rPr lang="en-US" altLang="en-US" sz="3200"/>
              <a:t>Traditional methods involve costly, time-consuming manual digging.</a:t>
            </a:r>
            <a:endParaRPr lang="en-US" altLang="en-US" sz="3200"/>
          </a:p>
          <a:p>
            <a:pPr marL="734060" lvl="1" indent="-367030" algn="l">
              <a:lnSpc>
                <a:spcPts val="4860"/>
              </a:lnSpc>
              <a:buFont typeface="Arial" panose="020B0604020202020204"/>
              <a:buChar char="•"/>
            </a:pPr>
            <a:endParaRPr lang="en-US" altLang="en-US" sz="3200"/>
          </a:p>
          <a:p>
            <a:pPr marL="734060" lvl="1" indent="-367030" algn="l">
              <a:lnSpc>
                <a:spcPts val="4860"/>
              </a:lnSpc>
              <a:buFont typeface="Arial" panose="020B0604020202020204"/>
              <a:buChar char="•"/>
            </a:pPr>
            <a:r>
              <a:rPr lang="en-US" altLang="en-US" sz="3200"/>
              <a:t>Urban growth and outages amplify the need for efficient solutions.</a:t>
            </a:r>
            <a:endParaRPr lang="en-US" altLang="en-US" sz="3200"/>
          </a:p>
          <a:p>
            <a:pPr marL="734060" lvl="1" indent="-367030" algn="l">
              <a:lnSpc>
                <a:spcPts val="4860"/>
              </a:lnSpc>
              <a:buFont typeface="Arial" panose="020B0604020202020204"/>
              <a:buChar char="•"/>
            </a:pPr>
            <a:endParaRPr lang="en-US" altLang="en-US" sz="3200"/>
          </a:p>
          <a:p>
            <a:pPr marL="734060" lvl="1" indent="-367030" algn="l">
              <a:lnSpc>
                <a:spcPts val="4860"/>
              </a:lnSpc>
              <a:buFont typeface="Arial" panose="020B0604020202020204"/>
              <a:buChar char="•"/>
            </a:pPr>
            <a:r>
              <a:rPr lang="en-US" altLang="en-US" sz="3200"/>
              <a:t>Time Domain Reflectometry (TDR) locates faults via pulse reflection.</a:t>
            </a:r>
            <a:endParaRPr lang="en-US" altLang="en-US" sz="3200"/>
          </a:p>
          <a:p>
            <a:pPr marL="734060" lvl="1" indent="-367030" algn="l">
              <a:lnSpc>
                <a:spcPts val="4860"/>
              </a:lnSpc>
              <a:buFont typeface="Arial" panose="020B0604020202020204"/>
              <a:buChar char="•"/>
            </a:pPr>
            <a:endParaRPr lang="en-US" altLang="en-US" sz="3200"/>
          </a:p>
          <a:p>
            <a:pPr algn="l">
              <a:lnSpc>
                <a:spcPts val="4860"/>
              </a:lnSpc>
            </a:pPr>
            <a:endParaRPr lang="en-US" altLang="en-US" sz="32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6437610" y="955167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04918" y="800190"/>
            <a:ext cx="10834200" cy="118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6000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PROBLEM STATEMENT</a:t>
            </a:r>
            <a:endParaRPr lang="en-US" sz="6000" b="1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948457" y="9105900"/>
            <a:ext cx="207268" cy="516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0"/>
              </a:lnSpc>
            </a:pPr>
            <a:endParaRPr lang="en-US" sz="2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2007235" y="2656205"/>
            <a:ext cx="12966065" cy="70548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47015" lvl="1" indent="0" algn="l">
              <a:lnSpc>
                <a:spcPts val="4860"/>
              </a:lnSpc>
              <a:buNone/>
            </a:pPr>
            <a:r>
              <a:rPr lang="en-US" altLang="en-US" sz="34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- Underground faults are difficult to locate visually</a:t>
            </a: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950595" lvl="2" indent="-246380" algn="l">
              <a:lnSpc>
                <a:spcPts val="4860"/>
              </a:lnSpc>
              <a:buAutoNum type="arabicPeriod"/>
            </a:pP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247015" lvl="1" indent="0" algn="l">
              <a:lnSpc>
                <a:spcPts val="4860"/>
              </a:lnSpc>
              <a:buNone/>
            </a:pPr>
            <a:r>
              <a:rPr lang="en-US" altLang="en-US" sz="34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- Current methods are slow and excavation-based</a:t>
            </a: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493395" lvl="1" indent="-246380" algn="l">
              <a:lnSpc>
                <a:spcPts val="4860"/>
              </a:lnSpc>
              <a:buAutoNum type="arabicPeriod"/>
            </a:pP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247015" lvl="1" indent="0" algn="l">
              <a:lnSpc>
                <a:spcPts val="4860"/>
              </a:lnSpc>
              <a:buNone/>
            </a:pPr>
            <a:r>
              <a:rPr lang="en-US" altLang="en-US" sz="34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- Manual detection increases labor and downtime</a:t>
            </a: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247015" lvl="1" indent="0" algn="l">
              <a:lnSpc>
                <a:spcPts val="4860"/>
              </a:lnSpc>
              <a:buNone/>
            </a:pPr>
            <a:r>
              <a:rPr lang="en-US" altLang="en-US" sz="34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 444444</a:t>
            </a: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247015" lvl="1" indent="0" algn="l">
              <a:lnSpc>
                <a:spcPts val="4860"/>
              </a:lnSpc>
              <a:buNone/>
            </a:pPr>
            <a:r>
              <a:rPr lang="en-US" altLang="en-US" sz="34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- Fault delays raise repair cost and outages</a:t>
            </a: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493395" lvl="1" indent="-246380" algn="l">
              <a:lnSpc>
                <a:spcPts val="4860"/>
              </a:lnSpc>
              <a:buAutoNum type="arabicPeriod"/>
            </a:pP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247015" lvl="1" indent="0" algn="l">
              <a:lnSpc>
                <a:spcPts val="4860"/>
              </a:lnSpc>
              <a:buNone/>
            </a:pPr>
            <a:r>
              <a:rPr lang="en-US" altLang="en-US" sz="34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 - A faster, cheaper, smarter solution is needed</a:t>
            </a:r>
            <a:r>
              <a:rPr lang="en-US" sz="34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.</a:t>
            </a:r>
            <a:endParaRPr 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247015" lvl="1" indent="0" algn="l">
              <a:lnSpc>
                <a:spcPts val="4860"/>
              </a:lnSpc>
              <a:buNone/>
            </a:pPr>
            <a:endParaRPr 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82714" y="1669843"/>
            <a:ext cx="6006300" cy="118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6000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OBJECTIVE</a:t>
            </a:r>
            <a:endParaRPr lang="en-US" sz="6000" b="1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382714" y="3769981"/>
            <a:ext cx="14391373" cy="427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The objective of the study is:</a:t>
            </a:r>
            <a:endParaRPr 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algn="l">
              <a:lnSpc>
                <a:spcPts val="4760"/>
              </a:lnSpc>
            </a:pPr>
            <a:endParaRPr 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483870" lvl="1" indent="-241935" algn="l">
              <a:lnSpc>
                <a:spcPts val="4760"/>
              </a:lnSpc>
              <a:buAutoNum type="arabicPeriod"/>
            </a:pPr>
            <a:r>
              <a:rPr lang="en-US" altLang="en-US" sz="34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Develop a low-cost system for detecting underground cable faults.</a:t>
            </a: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483870" lvl="1" indent="-241935" algn="l">
              <a:lnSpc>
                <a:spcPts val="4760"/>
              </a:lnSpc>
              <a:buAutoNum type="arabicPeriod"/>
            </a:pP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483870" lvl="1" indent="-241935" algn="l">
              <a:lnSpc>
                <a:spcPts val="4760"/>
              </a:lnSpc>
              <a:buAutoNum type="arabicPeriod"/>
            </a:pPr>
            <a:r>
              <a:rPr lang="en-US" altLang="en-US" sz="3400"/>
              <a:t>TDR-based prototype to detect open/short faults.</a:t>
            </a:r>
            <a:endParaRPr lang="en-US" altLang="en-US" sz="3400"/>
          </a:p>
          <a:p>
            <a:pPr marL="483870" lvl="1" indent="-241935" algn="l">
              <a:lnSpc>
                <a:spcPts val="4760"/>
              </a:lnSpc>
              <a:buAutoNum type="arabicPeriod"/>
            </a:pPr>
            <a:endParaRPr lang="en-US" altLang="en-US" sz="3400"/>
          </a:p>
          <a:p>
            <a:pPr marL="483870" lvl="1" indent="-241935" algn="l">
              <a:lnSpc>
                <a:spcPts val="4760"/>
              </a:lnSpc>
              <a:buAutoNum type="arabicPeriod"/>
            </a:pPr>
            <a:r>
              <a:rPr lang="en-US" altLang="en-US" sz="3400"/>
              <a:t>Compute fault distance from time delay and show on local display</a:t>
            </a:r>
            <a:endParaRPr lang="en-US" altLang="en-US" sz="3400"/>
          </a:p>
        </p:txBody>
      </p:sp>
      <p:sp>
        <p:nvSpPr>
          <p:cNvPr id="6" name="TextBox 6"/>
          <p:cNvSpPr txBox="1"/>
          <p:nvPr/>
        </p:nvSpPr>
        <p:spPr>
          <a:xfrm>
            <a:off x="16948457" y="9105900"/>
            <a:ext cx="207268" cy="516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0"/>
              </a:lnSpc>
            </a:pPr>
            <a:endParaRPr lang="en-US" sz="2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9489" y="723797"/>
            <a:ext cx="7855800" cy="118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6000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APPLICATION</a:t>
            </a:r>
            <a:endParaRPr lang="en-US" sz="6000" b="1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948457" y="9105900"/>
            <a:ext cx="207268" cy="516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0"/>
              </a:lnSpc>
            </a:pPr>
            <a:endParaRPr lang="en-US" sz="2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09800" y="2324100"/>
            <a:ext cx="13919835" cy="722122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777240" lvl="2" indent="-259080" algn="l">
              <a:lnSpc>
                <a:spcPts val="4760"/>
              </a:lnSpc>
              <a:buAutoNum type="arabicPeriod"/>
            </a:pP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518160" lvl="2" indent="0" algn="l">
              <a:lnSpc>
                <a:spcPts val="4760"/>
              </a:lnSpc>
              <a:buNone/>
            </a:pPr>
            <a:r>
              <a:rPr lang="en-US" altLang="en-US" sz="34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- Accurate fault localization using TDR</a:t>
            </a: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777240" lvl="2" indent="-259080" algn="l">
              <a:lnSpc>
                <a:spcPts val="4760"/>
              </a:lnSpc>
              <a:buAutoNum type="arabicPeriod"/>
            </a:pP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518160" lvl="2" indent="0" algn="l">
              <a:lnSpc>
                <a:spcPts val="4760"/>
              </a:lnSpc>
              <a:buNone/>
            </a:pPr>
            <a:r>
              <a:rPr lang="en-US" altLang="en-US" sz="34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- Identifies short and open circuit faults</a:t>
            </a: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777240" lvl="2" indent="-259080" algn="l">
              <a:lnSpc>
                <a:spcPts val="4760"/>
              </a:lnSpc>
              <a:buAutoNum type="arabicPeriod"/>
            </a:pP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518160" lvl="2" indent="0" algn="l">
              <a:lnSpc>
                <a:spcPts val="4760"/>
              </a:lnSpc>
              <a:buNone/>
            </a:pPr>
            <a:r>
              <a:rPr lang="en-US" altLang="en-US" sz="34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- Enables faster detection and repair</a:t>
            </a: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777240" lvl="2" indent="-259080" algn="l">
              <a:lnSpc>
                <a:spcPts val="4760"/>
              </a:lnSpc>
              <a:buAutoNum type="arabicPeriod"/>
            </a:pP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518160" lvl="2" indent="0" algn="l">
              <a:lnSpc>
                <a:spcPts val="4760"/>
              </a:lnSpc>
              <a:buNone/>
            </a:pPr>
            <a:r>
              <a:rPr lang="en-US" altLang="en-US" sz="34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- Quick fault localization and  reduces downtime</a:t>
            </a: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518160" lvl="2" indent="0" algn="l">
              <a:lnSpc>
                <a:spcPts val="4760"/>
              </a:lnSpc>
              <a:buNone/>
            </a:pP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518160" lvl="2" indent="0" algn="l">
              <a:lnSpc>
                <a:spcPts val="4760"/>
              </a:lnSpc>
              <a:buNone/>
            </a:pPr>
            <a:r>
              <a:rPr lang="en-US" altLang="en-US" sz="34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- Remote diagnostics via wireless data access</a:t>
            </a: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9868" y="876407"/>
            <a:ext cx="8499600" cy="118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6000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Features</a:t>
            </a:r>
            <a:endParaRPr lang="en-US" sz="6000" b="1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844862" y="9105900"/>
            <a:ext cx="414457" cy="516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0"/>
              </a:lnSpc>
            </a:pPr>
            <a:endParaRPr lang="en-US" sz="2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09800" y="2324100"/>
            <a:ext cx="13919835" cy="650430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518160" lvl="2" indent="0" algn="l">
              <a:lnSpc>
                <a:spcPts val="4860"/>
              </a:lnSpc>
              <a:buNone/>
            </a:pPr>
            <a:r>
              <a:rPr lang="en-US" altLang="en-US" sz="34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- Pulse generation using NE555 (monostable) </a:t>
            </a: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777240" lvl="2" indent="-259080" algn="l">
              <a:lnSpc>
                <a:spcPts val="4860"/>
              </a:lnSpc>
              <a:buAutoNum type="arabicPeriod"/>
            </a:pP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518160" lvl="2" indent="0" algn="l">
              <a:lnSpc>
                <a:spcPts val="4860"/>
              </a:lnSpc>
              <a:buNone/>
            </a:pPr>
            <a:r>
              <a:rPr lang="en-US" altLang="en-US" sz="34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- Reflection detection + amplification using LM358 </a:t>
            </a: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777240" lvl="2" indent="-259080" algn="l">
              <a:lnSpc>
                <a:spcPts val="4860"/>
              </a:lnSpc>
              <a:buAutoNum type="arabicPeriod"/>
            </a:pP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518160" lvl="2" indent="0" algn="l">
              <a:lnSpc>
                <a:spcPts val="4860"/>
              </a:lnSpc>
              <a:buNone/>
            </a:pPr>
            <a:r>
              <a:rPr lang="en-US" altLang="en-US" sz="34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- Distance calculation using TDR equation (v≈2×10⁸ m/s in RG-58) </a:t>
            </a: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777240" lvl="2" indent="-259080" algn="l">
              <a:lnSpc>
                <a:spcPts val="4860"/>
              </a:lnSpc>
              <a:buAutoNum type="arabicPeriod"/>
            </a:pP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518160" lvl="2" indent="0" algn="l">
              <a:lnSpc>
                <a:spcPts val="4860"/>
              </a:lnSpc>
              <a:buNone/>
            </a:pPr>
            <a:r>
              <a:rPr lang="en-US" altLang="en-US" sz="34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- Local output on OLED/LCD</a:t>
            </a: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82500" y="1077625"/>
            <a:ext cx="14826300" cy="118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6000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FEASIBILITY</a:t>
            </a:r>
            <a:endParaRPr lang="en-US" sz="6000" b="1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730713" y="2667106"/>
            <a:ext cx="14826575" cy="5125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0"/>
              </a:lnSpc>
            </a:pPr>
            <a:r>
              <a:rPr lang="en-US" altLang="en-US" sz="3400" b="1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Technical Feasibility</a:t>
            </a:r>
            <a:endParaRPr lang="en-US" altLang="en-US" sz="3400" b="1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algn="l">
              <a:lnSpc>
                <a:spcPts val="5710"/>
              </a:lnSpc>
            </a:pPr>
            <a:endParaRPr lang="en-US" altLang="en-US" sz="3400" b="1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734060" lvl="1" indent="-367030" algn="l">
              <a:lnSpc>
                <a:spcPts val="5710"/>
              </a:lnSpc>
              <a:buFont typeface="Arial" panose="020B0604020202020204"/>
              <a:buChar char="•"/>
            </a:pPr>
            <a:r>
              <a:rPr lang="en-US" altLang="en-US" sz="34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Uses widely available components (555, LM358, NodeMCU)</a:t>
            </a: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734060" lvl="1" indent="-367030" algn="l">
              <a:lnSpc>
                <a:spcPts val="5710"/>
              </a:lnSpc>
              <a:buFont typeface="Arial" panose="020B0604020202020204"/>
              <a:buChar char="•"/>
            </a:pP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734060" lvl="1" indent="-367030" algn="l">
              <a:lnSpc>
                <a:spcPts val="5710"/>
              </a:lnSpc>
              <a:buFont typeface="Arial" panose="020B0604020202020204"/>
              <a:buChar char="•"/>
            </a:pPr>
            <a:r>
              <a:rPr lang="en-US" altLang="en-US" sz="34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Operates at low voltage—safe and reliable</a:t>
            </a: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734060" lvl="1" indent="-367030" algn="l">
              <a:lnSpc>
                <a:spcPts val="5710"/>
              </a:lnSpc>
              <a:buFont typeface="Arial" panose="020B0604020202020204"/>
              <a:buChar char="•"/>
            </a:pP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734060" lvl="1" indent="-367030" algn="l">
              <a:lnSpc>
                <a:spcPts val="5710"/>
              </a:lnSpc>
              <a:buFont typeface="Arial" panose="020B0604020202020204"/>
              <a:buChar char="•"/>
            </a:pPr>
            <a:r>
              <a:rPr lang="en-US" altLang="en-US" sz="34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The circuit is currently in the design and simulation stage using Proteus</a:t>
            </a:r>
            <a:endParaRPr lang="en-US" altLang="en-US" sz="3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948457" y="9105900"/>
            <a:ext cx="207300" cy="516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0"/>
              </a:lnSpc>
            </a:pPr>
            <a:endParaRPr lang="en-US" sz="24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0210" y="765650"/>
            <a:ext cx="248490" cy="263050"/>
          </a:xfrm>
          <a:custGeom>
            <a:avLst/>
            <a:gdLst/>
            <a:ahLst/>
            <a:cxnLst/>
            <a:rect l="l" t="t" r="r" b="b"/>
            <a:pathLst>
              <a:path w="248490" h="263050">
                <a:moveTo>
                  <a:pt x="0" y="0"/>
                </a:moveTo>
                <a:lnTo>
                  <a:pt x="248490" y="0"/>
                </a:lnTo>
                <a:lnTo>
                  <a:pt x="248490" y="263050"/>
                </a:lnTo>
                <a:lnTo>
                  <a:pt x="0" y="26305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52623" y="952500"/>
            <a:ext cx="14871148" cy="1292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6000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 </a:t>
            </a:r>
            <a:r>
              <a:rPr lang="en-US" sz="6000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FEASIBILITY </a:t>
            </a:r>
            <a:r>
              <a:rPr lang="en-US" sz="6000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CONTD..</a:t>
            </a:r>
            <a:endParaRPr lang="en-US" sz="6000" b="1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1828800" y="2757170"/>
            <a:ext cx="12158345" cy="5561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ts val="5710"/>
              </a:lnSpc>
            </a:pPr>
            <a:r>
              <a:rPr lang="en-US" altLang="en-US" sz="3400" b="1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Economic Feasibility</a:t>
            </a:r>
            <a:endParaRPr lang="en-US" altLang="en-US" sz="3400" b="1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algn="l">
              <a:lnSpc>
                <a:spcPts val="5710"/>
              </a:lnSpc>
            </a:pPr>
            <a:endParaRPr lang="en-US" altLang="en-US" sz="3400" b="1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734060" lvl="1" indent="-367030" algn="l">
              <a:lnSpc>
                <a:spcPts val="5710"/>
              </a:lnSpc>
              <a:buFont typeface="Arial" panose="020B0604020202020204"/>
              <a:buChar char="•"/>
            </a:pPr>
            <a:r>
              <a:rPr lang="en-US" altLang="en-US" sz="3400"/>
              <a:t>Uses low-cost, easily available hardware modules for system design</a:t>
            </a:r>
            <a:endParaRPr lang="en-US" altLang="en-US" sz="3400"/>
          </a:p>
          <a:p>
            <a:pPr marL="734060" lvl="1" indent="-367030" algn="l">
              <a:lnSpc>
                <a:spcPts val="5710"/>
              </a:lnSpc>
              <a:buFont typeface="Arial" panose="020B0604020202020204"/>
              <a:buChar char="•"/>
            </a:pPr>
            <a:endParaRPr lang="en-US" altLang="en-US" sz="3400"/>
          </a:p>
          <a:p>
            <a:pPr marL="734060" lvl="1" indent="-367030" algn="l">
              <a:lnSpc>
                <a:spcPts val="5710"/>
              </a:lnSpc>
              <a:buFont typeface="Arial" panose="020B0604020202020204"/>
              <a:buChar char="•"/>
            </a:pPr>
            <a:r>
              <a:rPr lang="en-US" altLang="en-US" sz="3400"/>
              <a:t>Total project cost estimated at approximately Rs. 41800 only</a:t>
            </a:r>
            <a:endParaRPr lang="en-US" altLang="en-US" sz="3400"/>
          </a:p>
          <a:p>
            <a:pPr marL="734060" lvl="1" indent="-367030" algn="l">
              <a:lnSpc>
                <a:spcPts val="5710"/>
              </a:lnSpc>
              <a:buFont typeface="Arial" panose="020B0604020202020204"/>
              <a:buChar char="•"/>
            </a:pPr>
            <a:endParaRPr lang="en-US" altLang="en-US" sz="3400"/>
          </a:p>
          <a:p>
            <a:pPr marL="734060" lvl="1" indent="-367030" algn="l">
              <a:lnSpc>
                <a:spcPts val="5710"/>
              </a:lnSpc>
              <a:buFont typeface="Arial" panose="020B0604020202020204"/>
              <a:buChar char="•"/>
            </a:pPr>
            <a:r>
              <a:rPr lang="en-US" altLang="en-US" sz="3400"/>
              <a:t>Budget-friendly solution suitable for educational and practical implementation</a:t>
            </a:r>
            <a:endParaRPr lang="en-US" altLang="en-US" sz="34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8" name="Table 17"/>
          <p:cNvGraphicFramePr/>
          <p:nvPr>
            <p:custDataLst>
              <p:tags r:id="rId1"/>
            </p:custDataLst>
          </p:nvPr>
        </p:nvGraphicFramePr>
        <p:xfrm>
          <a:off x="1295400" y="2324100"/>
          <a:ext cx="15759430" cy="66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6525"/>
                <a:gridCol w="5231130"/>
                <a:gridCol w="5311775"/>
              </a:tblGrid>
              <a:tr h="165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4000" b="1">
                          <a:solidFill>
                            <a:schemeClr val="tx1"/>
                          </a:solidFill>
                        </a:rPr>
                        <a:t>Auther</a:t>
                      </a:r>
                      <a:endParaRPr lang="en-US" sz="40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4000" b="1">
                          <a:solidFill>
                            <a:schemeClr val="tx1"/>
                          </a:solidFill>
                        </a:rPr>
                        <a:t>Work element </a:t>
                      </a:r>
                      <a:endParaRPr lang="en-US" sz="40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400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4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1651000">
                <a:tc>
                  <a:txBody>
                    <a:bodyPr/>
                    <a:p>
                      <a:r>
                        <a:rPr sz="3400"/>
                        <a:t>Ramharack &amp; Bahadoorsingh (2023)</a:t>
                      </a:r>
                      <a:endParaRPr sz="3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3400"/>
                        <a:t>Step-pulse TDR + Wavelet Transform</a:t>
                      </a:r>
                      <a:endParaRPr sz="3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3400"/>
                        <a:t>Enabled accurate fault location without needing detailed cable specifications.</a:t>
                      </a:r>
                      <a:endParaRPr sz="3400"/>
                    </a:p>
                  </a:txBody>
                  <a:tcPr marL="0" marR="0" marT="0" marB="0" anchor="ctr" anchorCtr="0"/>
                </a:tc>
              </a:tr>
              <a:tr h="1651000">
                <a:tc>
                  <a:txBody>
                    <a:bodyPr/>
                    <a:p>
                      <a:r>
                        <a:rPr sz="3400"/>
                        <a:t> Klaus Giese (2016)</a:t>
                      </a:r>
                      <a:endParaRPr sz="3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3400"/>
                        <a:t>Signal degradation in TDR systems</a:t>
                      </a:r>
                      <a:endParaRPr sz="3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3400">
                          <a:sym typeface="+mn-ea"/>
                        </a:rPr>
                        <a:t>Studied how attenuation and dispersion affect reflected signal accuracy</a:t>
                      </a:r>
                      <a:endParaRPr sz="3400"/>
                    </a:p>
                  </a:txBody>
                  <a:tcPr marL="0" marR="0" marT="0" marB="0" anchor="ctr" anchorCtr="0"/>
                </a:tc>
              </a:tr>
              <a:tr h="1651000">
                <a:tc>
                  <a:txBody>
                    <a:bodyPr/>
                    <a:p>
                      <a:r>
                        <a:rPr sz="3400"/>
                        <a:t>Barry M. Novac (2011)</a:t>
                      </a:r>
                      <a:endParaRPr sz="3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3400"/>
                        <a:t>Transmission</a:t>
                      </a:r>
                      <a:r>
                        <a:rPr lang="en-US" sz="3400"/>
                        <a:t>impedence</a:t>
                      </a:r>
                      <a:r>
                        <a:rPr sz="3400"/>
                        <a:t> line  analysis</a:t>
                      </a:r>
                      <a:endParaRPr sz="3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3400"/>
                        <a:t>Emphasized role of impedance profile in clean pulse propagation and fault resolution.</a:t>
                      </a:r>
                      <a:endParaRPr sz="34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19" name="Text Box 18"/>
          <p:cNvSpPr txBox="1"/>
          <p:nvPr/>
        </p:nvSpPr>
        <p:spPr>
          <a:xfrm>
            <a:off x="2155825" y="748030"/>
            <a:ext cx="139350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6000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LITRATURE REVIEW:WORK RELATED</a:t>
            </a:r>
            <a:endParaRPr lang="en-US" sz="600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17466310" y="9511665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1180465" y="1407795"/>
          <a:ext cx="15816580" cy="8396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8290"/>
                <a:gridCol w="7908290"/>
              </a:tblGrid>
              <a:tr h="9652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1894205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1895475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182118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1820545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/>
          <p:nvPr>
            <p:custDataLst>
              <p:tags r:id="rId2"/>
            </p:custDataLst>
          </p:nvPr>
        </p:nvGraphicFramePr>
        <p:xfrm>
          <a:off x="1280160" y="1653540"/>
          <a:ext cx="15727680" cy="8178165"/>
        </p:xfrm>
        <a:graphic>
          <a:graphicData uri="http://schemas.openxmlformats.org/drawingml/2006/table">
            <a:tbl>
              <a:tblPr/>
              <a:tblGrid>
                <a:gridCol w="7863840"/>
                <a:gridCol w="7863840"/>
              </a:tblGrid>
              <a:tr h="1031875">
                <a:tc>
                  <a:txBody>
                    <a:bodyPr/>
                    <a:p>
                      <a:r>
                        <a:rPr sz="3400"/>
                        <a:t>Theory Element</a:t>
                      </a:r>
                      <a:endParaRPr sz="3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3400"/>
                        <a:t>Description</a:t>
                      </a:r>
                      <a:endParaRPr sz="3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49095">
                <a:tc>
                  <a:txBody>
                    <a:bodyPr/>
                    <a:p>
                      <a:r>
                        <a:rPr sz="3400"/>
                        <a:t>TDR Operating Principle</a:t>
                      </a:r>
                      <a:endParaRPr sz="3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3400"/>
                        <a:t>TDR sends a high-frequency pulse through a cable; impedance mismatches cause signal reflections used to detect and locate faults.</a:t>
                      </a:r>
                      <a:endParaRPr sz="3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48460">
                <a:tc>
                  <a:txBody>
                    <a:bodyPr/>
                    <a:p>
                      <a:r>
                        <a:rPr sz="3400"/>
                        <a:t>Electromagnetic Pulse Propagation</a:t>
                      </a:r>
                      <a:endParaRPr sz="3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3400"/>
                        <a:t>Pulses travel as TEM waves; dielectric changes from insulation failure or moisture affect speed, helping identify fault locations.</a:t>
                      </a:r>
                      <a:endParaRPr sz="3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99005">
                <a:tc>
                  <a:txBody>
                    <a:bodyPr/>
                    <a:p>
                      <a:r>
                        <a:rPr sz="3400"/>
                        <a:t>Impedance Discontinuities</a:t>
                      </a:r>
                      <a:endParaRPr sz="3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3400"/>
                        <a:t>Faults like breaks or corrosion create sudden impedance shifts, reflecting the pulse back toward the source—used to detect open/short faults.</a:t>
                      </a:r>
                      <a:endParaRPr sz="3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49730">
                <a:tc>
                  <a:txBody>
                    <a:bodyPr/>
                    <a:p>
                      <a:r>
                        <a:rPr sz="3400"/>
                        <a:t>Distance Calculation</a:t>
                      </a:r>
                      <a:endParaRPr sz="3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3400"/>
                        <a:t> </a:t>
                      </a:r>
                      <a:r>
                        <a:rPr lang="en-US" altLang="en-US" sz="3400"/>
                        <a:t>Distance = (v × Δt)/2</a:t>
                      </a:r>
                      <a:endParaRPr lang="en-US" altLang="en-US" sz="3400"/>
                    </a:p>
                    <a:p>
                      <a:r>
                        <a:rPr lang="en-US" altLang="en-US" sz="3400"/>
                        <a:t> where v ≈ 2×10⁸ m/s for RG-58</a:t>
                      </a:r>
                      <a:endParaRPr lang="en-US" altLang="en-US" sz="3400"/>
                    </a:p>
                    <a:p>
                      <a:endParaRPr sz="3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1181735" y="349250"/>
            <a:ext cx="15433040" cy="4089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6000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 LITERATURE REVIEW:THEORY RELATED</a:t>
            </a:r>
            <a:endParaRPr lang="en-US" sz="6000"/>
          </a:p>
          <a:p>
            <a:endParaRPr lang="en-US" sz="6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7292955" y="939165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838200" y="800100"/>
            <a:ext cx="5010785" cy="2153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 spc="300">
                <a:solidFill>
                  <a:srgbClr val="000000"/>
                </a:solidFill>
                <a:latin typeface="Helios Bold" panose="020B0704020202020204"/>
                <a:ea typeface="Helios Bold" panose="020B0704020202020204"/>
                <a:cs typeface="Helios Bold" panose="020B0704020202020204"/>
                <a:sym typeface="Helios Bold" panose="020B0704020202020204"/>
              </a:rPr>
              <a:t>HARDWARE</a:t>
            </a:r>
            <a:endParaRPr lang="en-US" sz="6000" b="1" spc="300">
              <a:solidFill>
                <a:srgbClr val="000000"/>
              </a:solidFill>
              <a:latin typeface="Helios Bold" panose="020B0704020202020204"/>
              <a:ea typeface="Helios Bold" panose="020B0704020202020204"/>
              <a:cs typeface="Helios Bold" panose="020B0704020202020204"/>
              <a:sym typeface="Helios Bold" panose="020B0704020202020204"/>
            </a:endParaRPr>
          </a:p>
          <a:p>
            <a:pPr algn="l">
              <a:lnSpc>
                <a:spcPts val="8400"/>
              </a:lnSpc>
            </a:pPr>
            <a:r>
              <a:rPr lang="en-US" sz="6000" b="1" spc="300">
                <a:solidFill>
                  <a:srgbClr val="000000"/>
                </a:solidFill>
                <a:latin typeface="Helios Bold" panose="020B0704020202020204"/>
                <a:ea typeface="Helios Bold" panose="020B0704020202020204"/>
                <a:cs typeface="Helios Bold" panose="020B0704020202020204"/>
                <a:sym typeface="Helios Bold" panose="020B0704020202020204"/>
              </a:rPr>
              <a:t>REQUIRED</a:t>
            </a:r>
            <a:endParaRPr lang="en-US" sz="6000" b="1" spc="300">
              <a:solidFill>
                <a:srgbClr val="000000"/>
              </a:solidFill>
              <a:latin typeface="Helios Bold" panose="020B0704020202020204"/>
              <a:ea typeface="Helios Bold" panose="020B0704020202020204"/>
              <a:cs typeface="Helios Bold" panose="020B0704020202020204"/>
              <a:sym typeface="Helios Bold" panose="020B07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863645" y="3777252"/>
            <a:ext cx="2768334" cy="326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820" b="1" spc="182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OLED DISPLAY</a:t>
            </a:r>
            <a:endParaRPr lang="en-US" sz="1820" b="1" spc="182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324581" y="7367660"/>
            <a:ext cx="2768334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altLang="en-US" sz="1820" b="1" spc="182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1N4148 Switching Diode</a:t>
            </a:r>
            <a:endParaRPr lang="en-US" altLang="en-US" sz="1820" b="1" spc="182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592454" y="8834438"/>
            <a:ext cx="4560542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179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Picture Courtesy :  mouser.co.id</a:t>
            </a:r>
            <a:endParaRPr lang="en-US" sz="1800" spc="179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086784" y="4076972"/>
            <a:ext cx="2768400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altLang="en-US" sz="1820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NE555 Timer IC</a:t>
            </a:r>
            <a:endParaRPr lang="en-US" altLang="en-US" sz="1820" b="1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771900"/>
            <a:ext cx="3034030" cy="20193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38300"/>
            <a:ext cx="2727960" cy="204216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534660"/>
            <a:ext cx="1666240" cy="166624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0" y="1257300"/>
            <a:ext cx="2388235" cy="238823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3795" y="4979670"/>
            <a:ext cx="2459355" cy="2459355"/>
          </a:xfrm>
          <a:prstGeom prst="rect">
            <a:avLst/>
          </a:prstGeom>
        </p:spPr>
      </p:pic>
      <p:sp>
        <p:nvSpPr>
          <p:cNvPr id="30" name="Text Box 29"/>
          <p:cNvSpPr txBox="1"/>
          <p:nvPr/>
        </p:nvSpPr>
        <p:spPr>
          <a:xfrm>
            <a:off x="14647545" y="797560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BNC Connector</a:t>
            </a:r>
            <a:endParaRPr lang="en-US"/>
          </a:p>
        </p:txBody>
      </p:sp>
      <p:sp>
        <p:nvSpPr>
          <p:cNvPr id="31" name="Text Box 30"/>
          <p:cNvSpPr txBox="1"/>
          <p:nvPr/>
        </p:nvSpPr>
        <p:spPr>
          <a:xfrm>
            <a:off x="9753600" y="7622223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sz="2000" b="1">
                <a:solidFill>
                  <a:srgbClr val="0D0D0D"/>
                </a:solidFill>
                <a:latin typeface="Times New Roman" panose="02020603050405020304"/>
                <a:ea typeface="Times New Roman" panose="02020603050405020304"/>
              </a:rPr>
              <a:t>LM358 Amplifier Operational</a:t>
            </a:r>
            <a:endParaRPr sz="2000" b="1">
              <a:solidFill>
                <a:srgbClr val="0D0D0D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3660" y="5219700"/>
            <a:ext cx="2179320" cy="1767840"/>
          </a:xfrm>
          <a:prstGeom prst="rect">
            <a:avLst/>
          </a:prstGeom>
        </p:spPr>
      </p:pic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34" name="Picture 33"/>
          <p:cNvPicPr/>
          <p:nvPr/>
        </p:nvPicPr>
        <p:blipFill>
          <a:blip r:embed="rId7"/>
          <a:stretch>
            <a:fillRect/>
          </a:stretch>
        </p:blipFill>
        <p:spPr>
          <a:xfrm>
            <a:off x="10744200" y="1993265"/>
            <a:ext cx="1539240" cy="1332230"/>
          </a:xfrm>
          <a:prstGeom prst="rect">
            <a:avLst/>
          </a:prstGeom>
        </p:spPr>
      </p:pic>
      <p:sp>
        <p:nvSpPr>
          <p:cNvPr id="36" name="Text Box 35"/>
          <p:cNvSpPr txBox="1"/>
          <p:nvPr/>
        </p:nvSpPr>
        <p:spPr>
          <a:xfrm>
            <a:off x="685800" y="5905500"/>
            <a:ext cx="60960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820" b="1">
                <a:latin typeface="Heebo Bold" panose="00000800000000000000" charset="0"/>
                <a:cs typeface="Heebo Bold" panose="00000800000000000000" charset="0"/>
              </a:rPr>
              <a:t>NodeMCU (ESP8266)</a:t>
            </a:r>
            <a:endParaRPr lang="en-US" altLang="en-US" sz="1820" b="1">
              <a:latin typeface="Heebo Bold" panose="00000800000000000000" charset="0"/>
              <a:cs typeface="Heebo Bold" panose="00000800000000000000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1150600" y="3935730"/>
            <a:ext cx="6096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/>
              <a:t>coaxial cable</a:t>
            </a:r>
            <a:endParaRPr lang="en-US" altLang="en-US" sz="2400" b="1"/>
          </a:p>
        </p:txBody>
      </p:sp>
      <p:pic>
        <p:nvPicPr>
          <p:cNvPr id="1342" name="Picture 1342"/>
          <p:cNvPicPr/>
          <p:nvPr/>
        </p:nvPicPr>
        <p:blipFill>
          <a:blip r:embed="rId8"/>
          <a:stretch>
            <a:fillRect/>
          </a:stretch>
        </p:blipFill>
        <p:spPr>
          <a:xfrm>
            <a:off x="1066800" y="7200900"/>
            <a:ext cx="1217295" cy="15367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914400" y="8877300"/>
            <a:ext cx="30187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/>
              <a:t>Schmitt trigger</a:t>
            </a:r>
            <a:endParaRPr lang="en-US" sz="2000" b="1"/>
          </a:p>
        </p:txBody>
      </p:sp>
      <p:pic>
        <p:nvPicPr>
          <p:cNvPr id="1344" name="Picture 1344"/>
          <p:cNvPicPr/>
          <p:nvPr/>
        </p:nvPicPr>
        <p:blipFill>
          <a:blip r:embed="rId9"/>
          <a:stretch>
            <a:fillRect/>
          </a:stretch>
        </p:blipFill>
        <p:spPr>
          <a:xfrm>
            <a:off x="3886200" y="6819900"/>
            <a:ext cx="1777365" cy="181038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505200" y="9173845"/>
            <a:ext cx="6096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/>
              <a:t>Power Suppl</a:t>
            </a:r>
            <a:r>
              <a:rPr lang="en-US" b="1"/>
              <a:t>y</a:t>
            </a:r>
            <a:endParaRPr lang="en-US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071370" y="2353310"/>
            <a:ext cx="13103225" cy="6786880"/>
          </a:xfrm>
          <a:prstGeom prst="rect">
            <a:avLst/>
          </a:prstGeom>
        </p:spPr>
        <p:txBody>
          <a:bodyPr>
            <a:noAutofit/>
          </a:bodyPr>
          <a:p>
            <a:r>
              <a:rPr sz="3400" b="1"/>
              <a:t>Arduino IDE</a:t>
            </a:r>
            <a:endParaRPr sz="3400" b="1"/>
          </a:p>
          <a:p>
            <a:pPr algn="just"/>
            <a:r>
              <a:rPr sz="3400"/>
              <a:t> Used to program the NodeMCU (ESP8266). It uploads code, manages libraries, and interfaces the hardware for signal processing and IoT communication.</a:t>
            </a:r>
            <a:endParaRPr sz="3400"/>
          </a:p>
          <a:p>
            <a:endParaRPr sz="3400"/>
          </a:p>
          <a:p>
            <a:r>
              <a:rPr sz="3400" b="1"/>
              <a:t>Proteus</a:t>
            </a:r>
            <a:endParaRPr sz="3400" b="1"/>
          </a:p>
          <a:p>
            <a:r>
              <a:rPr sz="3400"/>
              <a:t> Simulation software used to test and visualize circuit behavior before actual implementation. It helps verify design logic and component interaction</a:t>
            </a:r>
            <a:r>
              <a:rPr sz="1600"/>
              <a:t>.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1301115" y="455295"/>
            <a:ext cx="10626090" cy="1573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6000"/>
              <a:t>SOFTWARE REQUIRED</a:t>
            </a:r>
            <a:endParaRPr lang="en-US" sz="6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6313785" y="9360535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0210" y="765650"/>
            <a:ext cx="248490" cy="263050"/>
          </a:xfrm>
          <a:custGeom>
            <a:avLst/>
            <a:gdLst/>
            <a:ahLst/>
            <a:cxnLst/>
            <a:rect l="l" t="t" r="r" b="b"/>
            <a:pathLst>
              <a:path w="248490" h="263050">
                <a:moveTo>
                  <a:pt x="0" y="0"/>
                </a:moveTo>
                <a:lnTo>
                  <a:pt x="248490" y="0"/>
                </a:lnTo>
                <a:lnTo>
                  <a:pt x="248490" y="263050"/>
                </a:lnTo>
                <a:lnTo>
                  <a:pt x="0" y="26305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407202" y="297180"/>
            <a:ext cx="14871148" cy="118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6000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WORKING MECHANISHM</a:t>
            </a:r>
            <a:endParaRPr lang="en-US" sz="6000" b="1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844823" y="9105900"/>
            <a:ext cx="414536" cy="1033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0"/>
              </a:lnSpc>
            </a:pPr>
            <a:endParaRPr lang="en-US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algn="ctr">
              <a:lnSpc>
                <a:spcPts val="4030"/>
              </a:lnSpc>
            </a:pPr>
            <a:endParaRPr lang="en-US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-2095148" y="1708348"/>
            <a:ext cx="12992785" cy="59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System Block Diagram</a:t>
            </a:r>
            <a:endParaRPr lang="en-US" sz="3000" b="1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1475" name="Picture 1475"/>
          <p:cNvPicPr/>
          <p:nvPr/>
        </p:nvPicPr>
        <p:blipFill>
          <a:blip r:embed="rId3"/>
          <a:stretch>
            <a:fillRect/>
          </a:stretch>
        </p:blipFill>
        <p:spPr>
          <a:xfrm>
            <a:off x="1832610" y="2667635"/>
            <a:ext cx="13603605" cy="68338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1066800" y="571500"/>
            <a:ext cx="96869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6000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WORKING MECHANISHM</a:t>
            </a:r>
            <a:endParaRPr lang="en-US" sz="6000"/>
          </a:p>
        </p:txBody>
      </p:sp>
      <p:sp>
        <p:nvSpPr>
          <p:cNvPr id="4" name="Text Box 3"/>
          <p:cNvSpPr txBox="1"/>
          <p:nvPr/>
        </p:nvSpPr>
        <p:spPr>
          <a:xfrm>
            <a:off x="5791200" y="9334500"/>
            <a:ext cx="609600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400"/>
              <a:t>Figure : Flowchart</a:t>
            </a:r>
            <a:endParaRPr lang="en-US" sz="34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17093565" y="910590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1587" name="Picture 1587"/>
          <p:cNvPicPr/>
          <p:nvPr/>
        </p:nvPicPr>
        <p:blipFill>
          <a:blip r:embed="rId1"/>
          <a:stretch>
            <a:fillRect/>
          </a:stretch>
        </p:blipFill>
        <p:spPr>
          <a:xfrm>
            <a:off x="1528445" y="2205990"/>
            <a:ext cx="14210665" cy="67392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82226" y="921492"/>
            <a:ext cx="14523548" cy="118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6000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EXPECTED OUTCOME</a:t>
            </a:r>
            <a:endParaRPr lang="en-US" sz="6000" b="1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22541" y="2561556"/>
            <a:ext cx="15329550" cy="525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555"/>
              </a:lnSpc>
              <a:buFont typeface="Arial" panose="020B0604020202020204"/>
              <a:buChar char="•"/>
            </a:pPr>
            <a:r>
              <a:rPr lang="en-US" altLang="en-US" sz="33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Detect open/short and estimate distance</a:t>
            </a:r>
            <a:endParaRPr lang="en-US" altLang="en-US" sz="33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712470" lvl="1" indent="-356235" algn="l">
              <a:lnSpc>
                <a:spcPts val="4555"/>
              </a:lnSpc>
              <a:buFont typeface="Arial" panose="020B0604020202020204"/>
              <a:buChar char="•"/>
            </a:pPr>
            <a:endParaRPr lang="en-US" altLang="en-US" sz="33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712470" lvl="1" indent="-356235" algn="l">
              <a:lnSpc>
                <a:spcPts val="4555"/>
              </a:lnSpc>
              <a:buFont typeface="Arial" panose="020B0604020202020204"/>
              <a:buChar char="•"/>
            </a:pPr>
            <a:r>
              <a:rPr lang="en-US" altLang="en-US" sz="33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Reduce manual digging effort</a:t>
            </a:r>
            <a:endParaRPr lang="en-US" altLang="en-US" sz="33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712470" lvl="1" indent="-356235" algn="l">
              <a:lnSpc>
                <a:spcPts val="4555"/>
              </a:lnSpc>
              <a:buFont typeface="Arial" panose="020B0604020202020204"/>
              <a:buChar char="•"/>
            </a:pPr>
            <a:endParaRPr lang="en-US" altLang="en-US" sz="33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712470" lvl="1" indent="-356235" algn="l">
              <a:lnSpc>
                <a:spcPts val="4555"/>
              </a:lnSpc>
              <a:buFont typeface="Arial" panose="020B0604020202020204"/>
              <a:buChar char="•"/>
            </a:pPr>
            <a:r>
              <a:rPr lang="en-US" altLang="en-US" sz="33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Low-cost alternative for learning/demo</a:t>
            </a:r>
            <a:endParaRPr lang="en-US" altLang="en-US" sz="33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712470" lvl="1" indent="-356235" algn="l">
              <a:lnSpc>
                <a:spcPts val="4555"/>
              </a:lnSpc>
              <a:buFont typeface="Arial" panose="020B0604020202020204"/>
              <a:buChar char="•"/>
            </a:pPr>
            <a:endParaRPr lang="en-US" altLang="en-US" sz="33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marL="712470" lvl="1" indent="-356235" algn="l">
              <a:lnSpc>
                <a:spcPts val="4555"/>
              </a:lnSpc>
              <a:buFont typeface="Arial" panose="020B0604020202020204"/>
              <a:buChar char="•"/>
            </a:pPr>
            <a:r>
              <a:rPr lang="en-US" altLang="en-US" sz="33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Ready base for future enhancements</a:t>
            </a:r>
            <a:r>
              <a:rPr lang="en-US" sz="3300">
                <a:solidFill>
                  <a:srgbClr val="000000"/>
                </a:solidFill>
                <a:latin typeface="Heebo" panose="00000500000000000000"/>
                <a:ea typeface="Heebo" panose="00000500000000000000"/>
                <a:cs typeface="Heebo" panose="00000500000000000000"/>
                <a:sym typeface="Heebo" panose="00000500000000000000"/>
              </a:rPr>
              <a:t>.</a:t>
            </a:r>
            <a:endParaRPr lang="en-US" sz="33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algn="l">
              <a:lnSpc>
                <a:spcPts val="4555"/>
              </a:lnSpc>
            </a:pPr>
          </a:p>
          <a:p>
            <a:pPr algn="l">
              <a:lnSpc>
                <a:spcPts val="4555"/>
              </a:lnSpc>
            </a:p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514600" y="723900"/>
            <a:ext cx="6096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6000">
                <a:latin typeface="Heebo Bold" panose="00000800000000000000" charset="0"/>
                <a:cs typeface="Heebo Bold" panose="00000800000000000000" charset="0"/>
              </a:rPr>
              <a:t>GANTT CHART</a:t>
            </a:r>
            <a:endParaRPr lang="en-US" sz="6000">
              <a:latin typeface="Heebo Bold" panose="00000800000000000000" charset="0"/>
              <a:cs typeface="Heebo Bold" panose="00000800000000000000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7077690" y="9265285"/>
            <a:ext cx="609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  <a:p>
            <a:endParaRPr lang="en-US"/>
          </a:p>
        </p:txBody>
      </p:sp>
      <p:pic>
        <p:nvPicPr>
          <p:cNvPr id="6" name="Picture 5" descr="Creative Template Gantt Chart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200" y="1508760"/>
            <a:ext cx="12298045" cy="75126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US"/>
              <a:t>1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960370" y="916940"/>
            <a:ext cx="6191250" cy="1100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600200" y="647700"/>
            <a:ext cx="10304145" cy="915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6000" b="1"/>
              <a:t>WORK COMPLETED </a:t>
            </a:r>
            <a:endParaRPr lang="en-US" sz="6000" b="1"/>
          </a:p>
        </p:txBody>
      </p:sp>
      <p:sp>
        <p:nvSpPr>
          <p:cNvPr id="5" name="Text Box 4"/>
          <p:cNvSpPr txBox="1"/>
          <p:nvPr/>
        </p:nvSpPr>
        <p:spPr>
          <a:xfrm>
            <a:off x="2058035" y="2018030"/>
            <a:ext cx="14766925" cy="6319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300"/>
              <a:t>- Literature review on Time Domain Reflectometry (TDR) principles and fault behavior</a:t>
            </a:r>
            <a:endParaRPr lang="en-US" altLang="en-US" sz="3300"/>
          </a:p>
          <a:p>
            <a:endParaRPr lang="en-US" altLang="en-US" sz="3300"/>
          </a:p>
          <a:p>
            <a:r>
              <a:rPr lang="en-US" altLang="en-US" sz="3300"/>
              <a:t>- Finalized system architecture and functional block diagram</a:t>
            </a:r>
            <a:endParaRPr lang="en-US" altLang="en-US" sz="3300"/>
          </a:p>
          <a:p>
            <a:endParaRPr lang="en-US" altLang="en-US" sz="3300"/>
          </a:p>
          <a:p>
            <a:r>
              <a:rPr lang="en-US" altLang="en-US" sz="3300"/>
              <a:t>- Selection of major components (NE555, LM358, NodeMCU, Schmitt trigger, BNC)</a:t>
            </a:r>
            <a:endParaRPr lang="en-US" altLang="en-US" sz="3300"/>
          </a:p>
          <a:p>
            <a:endParaRPr lang="en-US" altLang="en-US" sz="3300"/>
          </a:p>
          <a:p>
            <a:r>
              <a:rPr lang="en-US" altLang="en-US" sz="3300"/>
              <a:t>-Initial circuit modeling and simulation setup in Proteus (in progress)</a:t>
            </a:r>
            <a:endParaRPr lang="en-US" altLang="en-US" sz="3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76200" y="495300"/>
            <a:ext cx="11977370" cy="113411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10080"/>
              </a:lnSpc>
            </a:pPr>
            <a:r>
              <a:rPr lang="en-US" sz="6000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REFERENCES</a:t>
            </a:r>
            <a:endParaRPr lang="en-US" sz="6000" b="1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6844862" y="9105900"/>
            <a:ext cx="414457" cy="1033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0"/>
              </a:lnSpc>
            </a:pPr>
            <a:endParaRPr lang="en-US" sz="12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  <a:p>
            <a:pPr algn="ctr">
              <a:lnSpc>
                <a:spcPts val="4030"/>
              </a:lnSpc>
            </a:pPr>
            <a:endParaRPr lang="en-US" sz="1200">
              <a:solidFill>
                <a:srgbClr val="000000"/>
              </a:solidFill>
              <a:latin typeface="Heebo" panose="00000500000000000000"/>
              <a:ea typeface="Heebo" panose="00000500000000000000"/>
              <a:cs typeface="Heebo" panose="00000500000000000000"/>
              <a:sym typeface="Heebo" panose="0000050000000000000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990600" y="1714500"/>
            <a:ext cx="14502130" cy="7821930"/>
          </a:xfrm>
          <a:prstGeom prst="rect">
            <a:avLst/>
          </a:prstGeom>
        </p:spPr>
        <p:txBody>
          <a:bodyPr>
            <a:noAutofit/>
          </a:bodyPr>
          <a:p>
            <a:pPr algn="just"/>
            <a:r>
              <a:rPr lang="en-US" sz="3400">
                <a:solidFill>
                  <a:srgbClr val="0D0D0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- </a:t>
            </a:r>
            <a:r>
              <a:rPr sz="3400">
                <a:solidFill>
                  <a:srgbClr val="0D0D0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B. Gustavsen </a:t>
            </a:r>
            <a:r>
              <a:rPr sz="3400" i="1">
                <a:solidFill>
                  <a:srgbClr val="0D0D0D"/>
                </a:solidFill>
                <a:latin typeface="Times New Roman" panose="02020603050405020304" charset="0"/>
                <a:ea typeface="TimesNewRomanPS-ItalicMT"/>
                <a:cs typeface="Times New Roman" panose="02020603050405020304" charset="0"/>
              </a:rPr>
              <a:t>et al</a:t>
            </a:r>
            <a:r>
              <a:rPr sz="3400">
                <a:solidFill>
                  <a:srgbClr val="0D0D0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., "High-frequency modeling of underground power cables and the use of TDR for fault location," </a:t>
            </a:r>
            <a:r>
              <a:rPr sz="3400" i="1">
                <a:solidFill>
                  <a:srgbClr val="0D0D0D"/>
                </a:solidFill>
                <a:latin typeface="Times New Roman" panose="02020603050405020304" charset="0"/>
                <a:ea typeface="TimesNewRomanPS-ItalicMT"/>
                <a:cs typeface="Times New Roman" panose="02020603050405020304" charset="0"/>
              </a:rPr>
              <a:t>IEEE Transactions on Power Delivery</a:t>
            </a:r>
            <a:r>
              <a:rPr sz="3400">
                <a:solidFill>
                  <a:srgbClr val="0D0D0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, vol. 25, no. 3, pp. 1153–1161, Jul. 2010. </a:t>
            </a:r>
            <a:endParaRPr sz="3400">
              <a:solidFill>
                <a:srgbClr val="0D0D0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just"/>
            <a:endParaRPr sz="3400">
              <a:solidFill>
                <a:srgbClr val="0D0D0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just"/>
            <a:r>
              <a:rPr lang="en-US" sz="3400">
                <a:solidFill>
                  <a:srgbClr val="0D0D0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-</a:t>
            </a:r>
            <a:r>
              <a:rPr sz="3400">
                <a:solidFill>
                  <a:srgbClr val="0D0D0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 R. Patel and M. Shah, "IoT-Based Underground Cable Fault Detection Using </a:t>
            </a:r>
            <a:endParaRPr sz="3400">
              <a:solidFill>
                <a:srgbClr val="0D0D0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just"/>
            <a:r>
              <a:rPr sz="3400">
                <a:solidFill>
                  <a:srgbClr val="0D0D0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NodeMCU," </a:t>
            </a:r>
            <a:r>
              <a:rPr sz="3400" i="1">
                <a:solidFill>
                  <a:srgbClr val="0D0D0D"/>
                </a:solidFill>
                <a:latin typeface="Times New Roman" panose="02020603050405020304" charset="0"/>
                <a:ea typeface="TimesNewRomanPS-ItalicMT"/>
                <a:cs typeface="Times New Roman" panose="02020603050405020304" charset="0"/>
              </a:rPr>
              <a:t>International Journal of Research in Engineering, Science and </a:t>
            </a:r>
            <a:endParaRPr sz="3400" i="1">
              <a:solidFill>
                <a:srgbClr val="0D0D0D"/>
              </a:solidFill>
              <a:latin typeface="Times New Roman" panose="02020603050405020304" charset="0"/>
              <a:ea typeface="TimesNewRomanPS-ItalicMT"/>
              <a:cs typeface="Times New Roman" panose="02020603050405020304" charset="0"/>
            </a:endParaRPr>
          </a:p>
          <a:p>
            <a:pPr algn="just"/>
            <a:r>
              <a:rPr sz="3400" i="1">
                <a:solidFill>
                  <a:srgbClr val="0D0D0D"/>
                </a:solidFill>
                <a:latin typeface="Times New Roman" panose="02020603050405020304" charset="0"/>
                <a:ea typeface="TimesNewRomanPS-ItalicMT"/>
                <a:cs typeface="Times New Roman" panose="02020603050405020304" charset="0"/>
              </a:rPr>
              <a:t>Management</a:t>
            </a:r>
            <a:r>
              <a:rPr sz="3400">
                <a:solidFill>
                  <a:srgbClr val="0D0D0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, vol. 4, no. 6, pp. 45–48, Jun. 2021. </a:t>
            </a:r>
            <a:endParaRPr sz="3400">
              <a:solidFill>
                <a:srgbClr val="0D0D0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just"/>
            <a:endParaRPr sz="3400">
              <a:solidFill>
                <a:srgbClr val="0D0D0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just"/>
            <a:r>
              <a:rPr lang="en-US" sz="3400">
                <a:solidFill>
                  <a:srgbClr val="0D0D0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-</a:t>
            </a:r>
            <a:r>
              <a:rPr sz="3400">
                <a:solidFill>
                  <a:srgbClr val="0D0D0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 R. Sharma </a:t>
            </a:r>
            <a:r>
              <a:rPr sz="3400" i="1">
                <a:solidFill>
                  <a:srgbClr val="0D0D0D"/>
                </a:solidFill>
                <a:latin typeface="Times New Roman" panose="02020603050405020304" charset="0"/>
                <a:ea typeface="TimesNewRomanPS-ItalicMT"/>
                <a:cs typeface="Times New Roman" panose="02020603050405020304" charset="0"/>
              </a:rPr>
              <a:t>et al</a:t>
            </a:r>
            <a:r>
              <a:rPr sz="3400">
                <a:solidFill>
                  <a:srgbClr val="0D0D0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., "Advanced Underground Cable Fault Detection Using TDR and Machine Learning," </a:t>
            </a:r>
            <a:r>
              <a:rPr sz="3400" i="1">
                <a:solidFill>
                  <a:srgbClr val="0D0D0D"/>
                </a:solidFill>
                <a:latin typeface="Times New Roman" panose="02020603050405020304" charset="0"/>
                <a:ea typeface="TimesNewRomanPS-ItalicMT"/>
                <a:cs typeface="Times New Roman" panose="02020603050405020304" charset="0"/>
              </a:rPr>
              <a:t>IEEE Sensors Letters</a:t>
            </a:r>
            <a:r>
              <a:rPr sz="3400">
                <a:solidFill>
                  <a:srgbClr val="0D0D0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, vol. 6, no. 5, pp. 1–4, May 2022.</a:t>
            </a:r>
            <a:endParaRPr sz="3400">
              <a:solidFill>
                <a:srgbClr val="0D0D0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just"/>
            <a:r>
              <a:rPr sz="3400">
                <a:solidFill>
                  <a:srgbClr val="0D0D0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 </a:t>
            </a:r>
            <a:endParaRPr sz="3400">
              <a:solidFill>
                <a:srgbClr val="0D0D0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just"/>
            <a:r>
              <a:rPr lang="en-US" sz="3400">
                <a:solidFill>
                  <a:srgbClr val="0D0D0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-</a:t>
            </a:r>
            <a:r>
              <a:rPr sz="3400">
                <a:solidFill>
                  <a:srgbClr val="0D0D0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 S. Ramharack and S. Bahadoorsingh, "Wavelet Transform Techniques for StepPulse TDR in Cable Fault Detection," </a:t>
            </a:r>
            <a:r>
              <a:rPr sz="3400" i="1">
                <a:solidFill>
                  <a:srgbClr val="0D0D0D"/>
                </a:solidFill>
                <a:latin typeface="Times New Roman" panose="02020603050405020304" charset="0"/>
                <a:ea typeface="TimesNewRomanPS-ItalicMT"/>
                <a:cs typeface="Times New Roman" panose="02020603050405020304" charset="0"/>
              </a:rPr>
              <a:t>Electric Power Systems Research</a:t>
            </a:r>
            <a:r>
              <a:rPr sz="3400">
                <a:solidFill>
                  <a:srgbClr val="0D0D0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, vol. 215, 2023, Art. no. 108986. </a:t>
            </a:r>
            <a:endParaRPr sz="3400">
              <a:solidFill>
                <a:srgbClr val="0D0D0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58126" y="4280925"/>
            <a:ext cx="12371749" cy="2293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85"/>
              </a:lnSpc>
            </a:pPr>
            <a:r>
              <a:rPr lang="en-US" sz="11595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THANK YOU</a:t>
            </a:r>
            <a:endParaRPr lang="en-US" sz="11595" b="1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8069535" y="1320327"/>
            <a:ext cx="2148930" cy="2148930"/>
            <a:chOff x="0" y="0"/>
            <a:chExt cx="1601083" cy="160108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01089" cy="1601089"/>
            </a:xfrm>
            <a:custGeom>
              <a:avLst/>
              <a:gdLst/>
              <a:ahLst/>
              <a:cxnLst/>
              <a:rect l="l" t="t" r="r" b="b"/>
              <a:pathLst>
                <a:path w="1601089" h="1601089">
                  <a:moveTo>
                    <a:pt x="0" y="0"/>
                  </a:moveTo>
                  <a:lnTo>
                    <a:pt x="1601089" y="0"/>
                  </a:lnTo>
                  <a:lnTo>
                    <a:pt x="1601089" y="1601089"/>
                  </a:lnTo>
                  <a:lnTo>
                    <a:pt x="0" y="1601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2958126" y="3575776"/>
            <a:ext cx="12371700" cy="678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0"/>
              </a:lnSpc>
            </a:pPr>
            <a:r>
              <a:rPr lang="en-US" sz="3400" b="1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Kantipur Engineering College</a:t>
            </a:r>
            <a:endParaRPr lang="en-US" sz="3400" b="1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16838930" y="951992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TABLE_ENDDRAG_ORIGIN_RECT" val="1240*520"/>
  <p:tag name="TABLE_ENDDRAG_RECT" val="102*183*1240*520"/>
</p:tagLst>
</file>

<file path=ppt/tags/tag6.xml><?xml version="1.0" encoding="utf-8"?>
<p:tagLst xmlns:p="http://schemas.openxmlformats.org/presentationml/2006/main">
  <p:tag name="TABLE_ENDDRAG_ORIGIN_RECT" val="1245*631"/>
  <p:tag name="TABLE_ENDDRAG_RECT" val="89*143*1245*631"/>
</p:tagLst>
</file>

<file path=ppt/tags/tag7.xml><?xml version="1.0" encoding="utf-8"?>
<p:tagLst xmlns:p="http://schemas.openxmlformats.org/presentationml/2006/main">
  <p:tag name="TABLE_ENDDRAG_ORIGIN_RECT" val="1238*643"/>
  <p:tag name="TABLE_ENDDRAG_RECT" val="100*130*1238*64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4882</Words>
  <Application>WPS Presentation</Application>
  <PresentationFormat>On-screen Show (4:3)</PresentationFormat>
  <Paragraphs>268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7" baseType="lpstr">
      <vt:lpstr>Arial</vt:lpstr>
      <vt:lpstr>SimSun</vt:lpstr>
      <vt:lpstr>Wingdings</vt:lpstr>
      <vt:lpstr>Times New Roman</vt:lpstr>
      <vt:lpstr>Heebo</vt:lpstr>
      <vt:lpstr>Heebo Bold</vt:lpstr>
      <vt:lpstr>Heebo Bold</vt:lpstr>
      <vt:lpstr>Arial</vt:lpstr>
      <vt:lpstr>Calibri</vt:lpstr>
      <vt:lpstr>Microsoft YaHei</vt:lpstr>
      <vt:lpstr>Arial Unicode MS</vt:lpstr>
      <vt:lpstr>Helios Bold</vt:lpstr>
      <vt:lpstr>Yu Gothic UI Semibold</vt:lpstr>
      <vt:lpstr>Times New Roman</vt:lpstr>
      <vt:lpstr>TimesNewRomanPS-ItalicMT</vt:lpstr>
      <vt:lpstr>Segoe Print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Defence.pptx</dc:title>
  <dc:creator/>
  <cp:lastModifiedBy>Aabiskar Subedi</cp:lastModifiedBy>
  <cp:revision>14</cp:revision>
  <dcterms:created xsi:type="dcterms:W3CDTF">2006-08-16T00:00:00Z</dcterms:created>
  <dcterms:modified xsi:type="dcterms:W3CDTF">2026-01-03T10:50:51Z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288BB5EFC59A455CBC70959491C397AB_13</vt:lpwstr>
  </property>
  <property fmtid="{D5CDD505-2E9C-101B-9397-08002B2CF9AE}" pid="3" name="KSOProductBuildVer">
    <vt:lpwstr>1033-12.2.0.23196</vt:lpwstr>
  </property>
</Properties>
</file>